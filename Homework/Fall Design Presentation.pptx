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59"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0478B1-32B3-E8FD-4140-0A9927CCA48B}" v="59" dt="2025-10-27T20:17:51.908"/>
    <p1510:client id="{F6733C29-948D-1077-B723-A5081EDCA5E0}" v="5075" dt="2025-10-27T20:05:25.5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C4ED04F-D812-4CC2-8556-7995E66C3C13}"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3EDB7E15-4409-47E5-835F-76B4194763AE}">
      <dgm:prSet custT="1"/>
      <dgm:spPr/>
      <dgm:t>
        <a:bodyPr/>
        <a:lstStyle/>
        <a:p>
          <a:pPr>
            <a:lnSpc>
              <a:spcPct val="100000"/>
            </a:lnSpc>
          </a:pPr>
          <a:r>
            <a:rPr lang="en-US" sz="1400">
              <a:solidFill>
                <a:srgbClr val="444444"/>
              </a:solidFill>
              <a:latin typeface="Aptos"/>
              <a:ea typeface="Calibri"/>
              <a:cs typeface="Calibri"/>
            </a:rPr>
            <a:t>As a couple, I want to receive automated emails with vendor options and booking confirmations so that I can stay informed about the progress of my wedding planning without needing constant check-ins.</a:t>
          </a:r>
        </a:p>
      </dgm:t>
    </dgm:pt>
    <dgm:pt modelId="{2345A0C9-E033-47F4-8771-986DF54CD764}" type="parTrans" cxnId="{4C12D51F-60BF-459F-8813-1C4CD6B00F26}">
      <dgm:prSet/>
      <dgm:spPr/>
      <dgm:t>
        <a:bodyPr/>
        <a:lstStyle/>
        <a:p>
          <a:endParaRPr lang="en-US"/>
        </a:p>
      </dgm:t>
    </dgm:pt>
    <dgm:pt modelId="{4B8A76DF-A0FF-42FC-B766-3891E79175F9}" type="sibTrans" cxnId="{4C12D51F-60BF-459F-8813-1C4CD6B00F26}">
      <dgm:prSet/>
      <dgm:spPr/>
      <dgm:t>
        <a:bodyPr/>
        <a:lstStyle/>
        <a:p>
          <a:endParaRPr lang="en-US"/>
        </a:p>
      </dgm:t>
    </dgm:pt>
    <dgm:pt modelId="{D009A959-DA72-4FF9-83DB-B2A10BC78D5E}">
      <dgm:prSet custT="1"/>
      <dgm:spPr/>
      <dgm:t>
        <a:bodyPr/>
        <a:lstStyle/>
        <a:p>
          <a:pPr>
            <a:lnSpc>
              <a:spcPct val="100000"/>
            </a:lnSpc>
          </a:pPr>
          <a:r>
            <a:rPr lang="en-US" sz="1400"/>
            <a:t>As a wedding planner, I want to generate a high-level timeline of upcoming milestones for each wedding so that I can manage multiple clients more efficiently and balance my workload.</a:t>
          </a:r>
        </a:p>
      </dgm:t>
    </dgm:pt>
    <dgm:pt modelId="{BEAD1389-7E24-4994-AB4F-B58718E82EE3}" type="parTrans" cxnId="{893764FE-B03D-4B9E-95B3-7C751F85A6EA}">
      <dgm:prSet/>
      <dgm:spPr/>
      <dgm:t>
        <a:bodyPr/>
        <a:lstStyle/>
        <a:p>
          <a:endParaRPr lang="en-US"/>
        </a:p>
      </dgm:t>
    </dgm:pt>
    <dgm:pt modelId="{4A4101A6-4342-4773-A9D8-6ECC9AC02027}" type="sibTrans" cxnId="{893764FE-B03D-4B9E-95B3-7C751F85A6EA}">
      <dgm:prSet/>
      <dgm:spPr/>
      <dgm:t>
        <a:bodyPr/>
        <a:lstStyle/>
        <a:p>
          <a:endParaRPr lang="en-US"/>
        </a:p>
      </dgm:t>
    </dgm:pt>
    <dgm:pt modelId="{0F4B170B-B756-468D-8269-E31632AF3217}" type="pres">
      <dgm:prSet presAssocID="{7C4ED04F-D812-4CC2-8556-7995E66C3C13}" presName="root" presStyleCnt="0">
        <dgm:presLayoutVars>
          <dgm:dir/>
          <dgm:resizeHandles val="exact"/>
        </dgm:presLayoutVars>
      </dgm:prSet>
      <dgm:spPr/>
    </dgm:pt>
    <dgm:pt modelId="{68D461D2-9528-46CA-B61C-5B6DEE7E0C0A}" type="pres">
      <dgm:prSet presAssocID="{3EDB7E15-4409-47E5-835F-76B4194763AE}" presName="compNode" presStyleCnt="0"/>
      <dgm:spPr/>
    </dgm:pt>
    <dgm:pt modelId="{D0DD7820-75BA-437D-8FC8-B76A56982E6C}" type="pres">
      <dgm:prSet presAssocID="{3EDB7E15-4409-47E5-835F-76B4194763A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Wedding Rings"/>
        </a:ext>
      </dgm:extLst>
    </dgm:pt>
    <dgm:pt modelId="{5024B4EF-1D96-4E7A-B158-DB0EB3F9EA19}" type="pres">
      <dgm:prSet presAssocID="{3EDB7E15-4409-47E5-835F-76B4194763AE}" presName="spaceRect" presStyleCnt="0"/>
      <dgm:spPr/>
    </dgm:pt>
    <dgm:pt modelId="{266EB3CC-38E4-4FD2-A2A5-5B70CD763668}" type="pres">
      <dgm:prSet presAssocID="{3EDB7E15-4409-47E5-835F-76B4194763AE}" presName="textRect" presStyleLbl="revTx" presStyleIdx="0" presStyleCnt="2">
        <dgm:presLayoutVars>
          <dgm:chMax val="1"/>
          <dgm:chPref val="1"/>
        </dgm:presLayoutVars>
      </dgm:prSet>
      <dgm:spPr/>
    </dgm:pt>
    <dgm:pt modelId="{728A6106-3A5A-48C2-A419-7A31B5EAA872}" type="pres">
      <dgm:prSet presAssocID="{4B8A76DF-A0FF-42FC-B766-3891E79175F9}" presName="sibTrans" presStyleCnt="0"/>
      <dgm:spPr/>
    </dgm:pt>
    <dgm:pt modelId="{0A5BBA04-4A36-44B6-921C-8BDA6E61BA42}" type="pres">
      <dgm:prSet presAssocID="{D009A959-DA72-4FF9-83DB-B2A10BC78D5E}" presName="compNode" presStyleCnt="0"/>
      <dgm:spPr/>
    </dgm:pt>
    <dgm:pt modelId="{2F483647-F294-4BA4-A295-2AB6DAFA11D2}" type="pres">
      <dgm:prSet presAssocID="{D009A959-DA72-4FF9-83DB-B2A10BC78D5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Envelope"/>
        </a:ext>
      </dgm:extLst>
    </dgm:pt>
    <dgm:pt modelId="{FA44F086-0460-422F-BD21-0882ACECA63D}" type="pres">
      <dgm:prSet presAssocID="{D009A959-DA72-4FF9-83DB-B2A10BC78D5E}" presName="spaceRect" presStyleCnt="0"/>
      <dgm:spPr/>
    </dgm:pt>
    <dgm:pt modelId="{2A3AA2EB-DB6C-47E8-BBE4-5EDDA5DC90D6}" type="pres">
      <dgm:prSet presAssocID="{D009A959-DA72-4FF9-83DB-B2A10BC78D5E}" presName="textRect" presStyleLbl="revTx" presStyleIdx="1" presStyleCnt="2">
        <dgm:presLayoutVars>
          <dgm:chMax val="1"/>
          <dgm:chPref val="1"/>
        </dgm:presLayoutVars>
      </dgm:prSet>
      <dgm:spPr/>
    </dgm:pt>
  </dgm:ptLst>
  <dgm:cxnLst>
    <dgm:cxn modelId="{4C12D51F-60BF-459F-8813-1C4CD6B00F26}" srcId="{7C4ED04F-D812-4CC2-8556-7995E66C3C13}" destId="{3EDB7E15-4409-47E5-835F-76B4194763AE}" srcOrd="0" destOrd="0" parTransId="{2345A0C9-E033-47F4-8771-986DF54CD764}" sibTransId="{4B8A76DF-A0FF-42FC-B766-3891E79175F9}"/>
    <dgm:cxn modelId="{F9E1762D-553D-40AD-8289-ABD0F9D5F6B0}" type="presOf" srcId="{7C4ED04F-D812-4CC2-8556-7995E66C3C13}" destId="{0F4B170B-B756-468D-8269-E31632AF3217}" srcOrd="0" destOrd="0" presId="urn:microsoft.com/office/officeart/2018/2/layout/IconLabelList"/>
    <dgm:cxn modelId="{1AE8EE7F-AD9A-44F2-ABBC-A8EC8C8310E2}" type="presOf" srcId="{3EDB7E15-4409-47E5-835F-76B4194763AE}" destId="{266EB3CC-38E4-4FD2-A2A5-5B70CD763668}" srcOrd="0" destOrd="0" presId="urn:microsoft.com/office/officeart/2018/2/layout/IconLabelList"/>
    <dgm:cxn modelId="{DE3E87FB-927B-48FD-A159-C497AC1D6E67}" type="presOf" srcId="{D009A959-DA72-4FF9-83DB-B2A10BC78D5E}" destId="{2A3AA2EB-DB6C-47E8-BBE4-5EDDA5DC90D6}" srcOrd="0" destOrd="0" presId="urn:microsoft.com/office/officeart/2018/2/layout/IconLabelList"/>
    <dgm:cxn modelId="{893764FE-B03D-4B9E-95B3-7C751F85A6EA}" srcId="{7C4ED04F-D812-4CC2-8556-7995E66C3C13}" destId="{D009A959-DA72-4FF9-83DB-B2A10BC78D5E}" srcOrd="1" destOrd="0" parTransId="{BEAD1389-7E24-4994-AB4F-B58718E82EE3}" sibTransId="{4A4101A6-4342-4773-A9D8-6ECC9AC02027}"/>
    <dgm:cxn modelId="{0D15C40F-3D5C-4DCC-9EE5-0494D21060C6}" type="presParOf" srcId="{0F4B170B-B756-468D-8269-E31632AF3217}" destId="{68D461D2-9528-46CA-B61C-5B6DEE7E0C0A}" srcOrd="0" destOrd="0" presId="urn:microsoft.com/office/officeart/2018/2/layout/IconLabelList"/>
    <dgm:cxn modelId="{BDB2ADC0-39F6-4A84-A556-1A4A985507C3}" type="presParOf" srcId="{68D461D2-9528-46CA-B61C-5B6DEE7E0C0A}" destId="{D0DD7820-75BA-437D-8FC8-B76A56982E6C}" srcOrd="0" destOrd="0" presId="urn:microsoft.com/office/officeart/2018/2/layout/IconLabelList"/>
    <dgm:cxn modelId="{90D5ABE8-C256-49CE-BEA9-EA479E130A7F}" type="presParOf" srcId="{68D461D2-9528-46CA-B61C-5B6DEE7E0C0A}" destId="{5024B4EF-1D96-4E7A-B158-DB0EB3F9EA19}" srcOrd="1" destOrd="0" presId="urn:microsoft.com/office/officeart/2018/2/layout/IconLabelList"/>
    <dgm:cxn modelId="{3C5D8F2B-A3A3-443A-84F7-0ECFEFDB52A6}" type="presParOf" srcId="{68D461D2-9528-46CA-B61C-5B6DEE7E0C0A}" destId="{266EB3CC-38E4-4FD2-A2A5-5B70CD763668}" srcOrd="2" destOrd="0" presId="urn:microsoft.com/office/officeart/2018/2/layout/IconLabelList"/>
    <dgm:cxn modelId="{F420411C-447A-428E-BFCA-E08C89980134}" type="presParOf" srcId="{0F4B170B-B756-468D-8269-E31632AF3217}" destId="{728A6106-3A5A-48C2-A419-7A31B5EAA872}" srcOrd="1" destOrd="0" presId="urn:microsoft.com/office/officeart/2018/2/layout/IconLabelList"/>
    <dgm:cxn modelId="{2732EB78-E37C-4D96-B8B9-706D73ADB983}" type="presParOf" srcId="{0F4B170B-B756-468D-8269-E31632AF3217}" destId="{0A5BBA04-4A36-44B6-921C-8BDA6E61BA42}" srcOrd="2" destOrd="0" presId="urn:microsoft.com/office/officeart/2018/2/layout/IconLabelList"/>
    <dgm:cxn modelId="{674693A0-DCEF-49FB-BF35-5B2B6D81366D}" type="presParOf" srcId="{0A5BBA04-4A36-44B6-921C-8BDA6E61BA42}" destId="{2F483647-F294-4BA4-A295-2AB6DAFA11D2}" srcOrd="0" destOrd="0" presId="urn:microsoft.com/office/officeart/2018/2/layout/IconLabelList"/>
    <dgm:cxn modelId="{C0419FF0-3161-4F23-8CC8-F97D8E9681C4}" type="presParOf" srcId="{0A5BBA04-4A36-44B6-921C-8BDA6E61BA42}" destId="{FA44F086-0460-422F-BD21-0882ACECA63D}" srcOrd="1" destOrd="0" presId="urn:microsoft.com/office/officeart/2018/2/layout/IconLabelList"/>
    <dgm:cxn modelId="{DD939B16-15D9-4FE2-B116-0C1BDABC3915}" type="presParOf" srcId="{0A5BBA04-4A36-44B6-921C-8BDA6E61BA42}" destId="{2A3AA2EB-DB6C-47E8-BBE4-5EDDA5DC90D6}"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DD7820-75BA-437D-8FC8-B76A56982E6C}">
      <dsp:nvSpPr>
        <dsp:cNvPr id="0" name=""/>
        <dsp:cNvSpPr/>
      </dsp:nvSpPr>
      <dsp:spPr>
        <a:xfrm>
          <a:off x="1747800" y="515949"/>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66EB3CC-38E4-4FD2-A2A5-5B70CD763668}">
      <dsp:nvSpPr>
        <dsp:cNvPr id="0" name=""/>
        <dsp:cNvSpPr/>
      </dsp:nvSpPr>
      <dsp:spPr>
        <a:xfrm>
          <a:off x="559800" y="2957888"/>
          <a:ext cx="4320000" cy="87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a:solidFill>
                <a:srgbClr val="444444"/>
              </a:solidFill>
              <a:latin typeface="Aptos"/>
              <a:ea typeface="Calibri"/>
              <a:cs typeface="Calibri"/>
            </a:rPr>
            <a:t>As a couple, I want to receive automated emails with vendor options and booking confirmations so that I can stay informed about the progress of my wedding planning without needing constant check-ins.</a:t>
          </a:r>
        </a:p>
      </dsp:txBody>
      <dsp:txXfrm>
        <a:off x="559800" y="2957888"/>
        <a:ext cx="4320000" cy="877500"/>
      </dsp:txXfrm>
    </dsp:sp>
    <dsp:sp modelId="{2F483647-F294-4BA4-A295-2AB6DAFA11D2}">
      <dsp:nvSpPr>
        <dsp:cNvPr id="0" name=""/>
        <dsp:cNvSpPr/>
      </dsp:nvSpPr>
      <dsp:spPr>
        <a:xfrm>
          <a:off x="6823800" y="515949"/>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A3AA2EB-DB6C-47E8-BBE4-5EDDA5DC90D6}">
      <dsp:nvSpPr>
        <dsp:cNvPr id="0" name=""/>
        <dsp:cNvSpPr/>
      </dsp:nvSpPr>
      <dsp:spPr>
        <a:xfrm>
          <a:off x="5635800" y="2957888"/>
          <a:ext cx="4320000" cy="87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a:t>As a wedding planner, I want to generate a high-level timeline of upcoming milestones for each wedding so that I can manage multiple clients more efficiently and balance my workload.</a:t>
          </a:r>
        </a:p>
      </dsp:txBody>
      <dsp:txXfrm>
        <a:off x="5635800" y="2957888"/>
        <a:ext cx="4320000" cy="8775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10/27/2025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10/27/2025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10/27/2025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Hawkinwh@ucmail.uc.edu" TargetMode="External"/><Relationship Id="rId2" Type="http://schemas.openxmlformats.org/officeDocument/2006/relationships/hyperlink" Target="mailto:Weinstmd@mail.uc.edu"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590662" y="4267832"/>
            <a:ext cx="4805996" cy="1297115"/>
          </a:xfrm>
        </p:spPr>
        <p:txBody>
          <a:bodyPr anchor="t">
            <a:normAutofit/>
          </a:bodyPr>
          <a:lstStyle/>
          <a:p>
            <a:pPr algn="l"/>
            <a:r>
              <a:rPr lang="en-US" sz="2800">
                <a:solidFill>
                  <a:schemeClr val="tx2"/>
                </a:solidFill>
              </a:rPr>
              <a:t>Fall Design Presentation:</a:t>
            </a:r>
            <a:br>
              <a:rPr lang="en-US" sz="2800">
                <a:solidFill>
                  <a:schemeClr val="tx2"/>
                </a:solidFill>
              </a:rPr>
            </a:br>
            <a:r>
              <a:rPr lang="en-US" sz="2800">
                <a:solidFill>
                  <a:schemeClr val="tx2"/>
                </a:solidFill>
              </a:rPr>
              <a:t>Tennemore Wedding Planning Application</a:t>
            </a:r>
          </a:p>
        </p:txBody>
      </p:sp>
      <p:sp>
        <p:nvSpPr>
          <p:cNvPr id="3" name="Subtitle 2"/>
          <p:cNvSpPr>
            <a:spLocks noGrp="1"/>
          </p:cNvSpPr>
          <p:nvPr>
            <p:ph type="subTitle" idx="1"/>
          </p:nvPr>
        </p:nvSpPr>
        <p:spPr>
          <a:xfrm>
            <a:off x="6590966" y="3428999"/>
            <a:ext cx="4805691" cy="838831"/>
          </a:xfrm>
        </p:spPr>
        <p:txBody>
          <a:bodyPr vert="horz" lIns="91440" tIns="45720" rIns="91440" bIns="45720" rtlCol="0" anchor="b">
            <a:normAutofit/>
          </a:bodyPr>
          <a:lstStyle/>
          <a:p>
            <a:pPr algn="l"/>
            <a:r>
              <a:rPr lang="en-US" sz="1300">
                <a:solidFill>
                  <a:schemeClr val="tx2"/>
                </a:solidFill>
              </a:rPr>
              <a:t>A Full-Stack Web Application designed to help wedding planners manage their clients more efficiently, while providing a single location for couples to view and select vendors, venues, and guest lists</a:t>
            </a:r>
          </a:p>
        </p:txBody>
      </p:sp>
      <p:pic>
        <p:nvPicPr>
          <p:cNvPr id="7" name="Graphic 6" descr="Wedding Cake">
            <a:extLst>
              <a:ext uri="{FF2B5EF4-FFF2-40B4-BE49-F238E27FC236}">
                <a16:creationId xmlns:a16="http://schemas.microsoft.com/office/drawing/2014/main" id="{45D67095-07E4-D7B8-FC97-FFCE11B9A87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4" name="Group 1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01040D26-5C44-284A-C38E-584B785EFB30}"/>
              </a:ext>
            </a:extLst>
          </p:cNvPr>
          <p:cNvSpPr>
            <a:spLocks noGrp="1"/>
          </p:cNvSpPr>
          <p:nvPr>
            <p:ph type="title"/>
          </p:nvPr>
        </p:nvSpPr>
        <p:spPr>
          <a:xfrm>
            <a:off x="640080" y="1243013"/>
            <a:ext cx="3855720" cy="4371974"/>
          </a:xfrm>
        </p:spPr>
        <p:txBody>
          <a:bodyPr>
            <a:normAutofit/>
          </a:bodyPr>
          <a:lstStyle/>
          <a:p>
            <a:r>
              <a:rPr lang="en-US" sz="3600">
                <a:solidFill>
                  <a:schemeClr val="tx2"/>
                </a:solidFill>
              </a:rPr>
              <a:t>Names:</a:t>
            </a:r>
          </a:p>
        </p:txBody>
      </p:sp>
      <p:sp>
        <p:nvSpPr>
          <p:cNvPr id="3" name="Content Placeholder 2">
            <a:extLst>
              <a:ext uri="{FF2B5EF4-FFF2-40B4-BE49-F238E27FC236}">
                <a16:creationId xmlns:a16="http://schemas.microsoft.com/office/drawing/2014/main" id="{2DD717E4-A529-AF11-E42F-250839965A97}"/>
              </a:ext>
            </a:extLst>
          </p:cNvPr>
          <p:cNvSpPr>
            <a:spLocks noGrp="1"/>
          </p:cNvSpPr>
          <p:nvPr>
            <p:ph idx="1"/>
          </p:nvPr>
        </p:nvSpPr>
        <p:spPr>
          <a:xfrm>
            <a:off x="6172200" y="804672"/>
            <a:ext cx="5221224" cy="5230368"/>
          </a:xfrm>
        </p:spPr>
        <p:txBody>
          <a:bodyPr vert="horz" lIns="91440" tIns="45720" rIns="91440" bIns="45720" rtlCol="0" anchor="ctr">
            <a:normAutofit/>
          </a:bodyPr>
          <a:lstStyle/>
          <a:p>
            <a:pPr marL="0" indent="0">
              <a:buNone/>
            </a:pPr>
            <a:r>
              <a:rPr lang="en-US" sz="1800" u="sng">
                <a:solidFill>
                  <a:schemeClr val="tx2"/>
                </a:solidFill>
              </a:rPr>
              <a:t>Team Members:</a:t>
            </a:r>
          </a:p>
          <a:p>
            <a:pPr marL="0" indent="0">
              <a:buNone/>
            </a:pPr>
            <a:r>
              <a:rPr lang="en-US" sz="1800">
                <a:solidFill>
                  <a:schemeClr val="tx2"/>
                </a:solidFill>
              </a:rPr>
              <a:t>Michael Weinstein</a:t>
            </a:r>
          </a:p>
          <a:p>
            <a:pPr marL="0" indent="0">
              <a:buNone/>
            </a:pPr>
            <a:r>
              <a:rPr lang="en-US" sz="1800">
                <a:solidFill>
                  <a:schemeClr val="tx2"/>
                </a:solidFill>
                <a:hlinkClick r:id="rId2">
                  <a:extLst>
                    <a:ext uri="{A12FA001-AC4F-418D-AE19-62706E023703}">
                      <ahyp:hlinkClr xmlns:ahyp="http://schemas.microsoft.com/office/drawing/2018/hyperlinkcolor" val="tx"/>
                    </a:ext>
                  </a:extLst>
                </a:hlinkClick>
              </a:rPr>
              <a:t>Weinstmd@mail.uc.edu</a:t>
            </a:r>
            <a:endParaRPr lang="en-US" sz="1800">
              <a:solidFill>
                <a:schemeClr val="tx2"/>
              </a:solidFill>
            </a:endParaRPr>
          </a:p>
          <a:p>
            <a:pPr marL="0" indent="0">
              <a:buNone/>
            </a:pPr>
            <a:endParaRPr lang="en-US" sz="1800">
              <a:solidFill>
                <a:schemeClr val="tx2"/>
              </a:solidFill>
            </a:endParaRPr>
          </a:p>
          <a:p>
            <a:pPr marL="0" indent="0">
              <a:buNone/>
            </a:pPr>
            <a:r>
              <a:rPr lang="en-US" sz="1800" u="sng">
                <a:solidFill>
                  <a:schemeClr val="tx2"/>
                </a:solidFill>
              </a:rPr>
              <a:t>Advisor:</a:t>
            </a:r>
          </a:p>
          <a:p>
            <a:pPr marL="0" indent="0">
              <a:buNone/>
            </a:pPr>
            <a:r>
              <a:rPr lang="en-US" sz="1800">
                <a:solidFill>
                  <a:schemeClr val="tx2"/>
                </a:solidFill>
              </a:rPr>
              <a:t>Dr. Will Hawkins</a:t>
            </a:r>
          </a:p>
          <a:p>
            <a:pPr marL="0" indent="0">
              <a:buNone/>
            </a:pPr>
            <a:r>
              <a:rPr lang="en-US" sz="1800">
                <a:solidFill>
                  <a:schemeClr val="tx2"/>
                </a:solidFill>
                <a:hlinkClick r:id="rId3">
                  <a:extLst>
                    <a:ext uri="{A12FA001-AC4F-418D-AE19-62706E023703}">
                      <ahyp:hlinkClr xmlns:ahyp="http://schemas.microsoft.com/office/drawing/2018/hyperlinkcolor" val="tx"/>
                    </a:ext>
                  </a:extLst>
                </a:hlinkClick>
              </a:rPr>
              <a:t>Hawkinwh@ucmail.uc.edu</a:t>
            </a:r>
            <a:r>
              <a:rPr lang="en-US" sz="1800">
                <a:solidFill>
                  <a:schemeClr val="tx2"/>
                </a:solidFill>
              </a:rPr>
              <a:t> </a:t>
            </a:r>
          </a:p>
        </p:txBody>
      </p:sp>
    </p:spTree>
    <p:extLst>
      <p:ext uri="{BB962C8B-B14F-4D97-AF65-F5344CB8AC3E}">
        <p14:creationId xmlns:p14="http://schemas.microsoft.com/office/powerpoint/2010/main" val="42272952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1EE9212C-7983-1321-7696-9BA30CEDE083}"/>
              </a:ext>
            </a:extLst>
          </p:cNvPr>
          <p:cNvSpPr>
            <a:spLocks noGrp="1"/>
          </p:cNvSpPr>
          <p:nvPr>
            <p:ph type="title"/>
          </p:nvPr>
        </p:nvSpPr>
        <p:spPr>
          <a:xfrm>
            <a:off x="640080" y="1243013"/>
            <a:ext cx="3855720" cy="4371974"/>
          </a:xfrm>
        </p:spPr>
        <p:txBody>
          <a:bodyPr>
            <a:normAutofit/>
          </a:bodyPr>
          <a:lstStyle/>
          <a:p>
            <a:r>
              <a:rPr lang="en-US" sz="3600">
                <a:solidFill>
                  <a:schemeClr val="tx2"/>
                </a:solidFill>
              </a:rPr>
              <a:t>Project Abstract</a:t>
            </a:r>
          </a:p>
        </p:txBody>
      </p:sp>
      <p:sp>
        <p:nvSpPr>
          <p:cNvPr id="3" name="Content Placeholder 2">
            <a:extLst>
              <a:ext uri="{FF2B5EF4-FFF2-40B4-BE49-F238E27FC236}">
                <a16:creationId xmlns:a16="http://schemas.microsoft.com/office/drawing/2014/main" id="{99EBDD15-C72B-5B51-0911-62A1C17EDB97}"/>
              </a:ext>
            </a:extLst>
          </p:cNvPr>
          <p:cNvSpPr>
            <a:spLocks noGrp="1"/>
          </p:cNvSpPr>
          <p:nvPr>
            <p:ph idx="1"/>
          </p:nvPr>
        </p:nvSpPr>
        <p:spPr>
          <a:xfrm>
            <a:off x="6172200" y="804672"/>
            <a:ext cx="5221224" cy="5230368"/>
          </a:xfrm>
        </p:spPr>
        <p:txBody>
          <a:bodyPr vert="horz" lIns="91440" tIns="45720" rIns="91440" bIns="45720" rtlCol="0" anchor="ctr">
            <a:normAutofit/>
          </a:bodyPr>
          <a:lstStyle/>
          <a:p>
            <a:pPr marL="0" indent="0">
              <a:buNone/>
            </a:pPr>
            <a:r>
              <a:rPr lang="en-US" sz="1800">
                <a:solidFill>
                  <a:schemeClr val="tx2"/>
                </a:solidFill>
              </a:rPr>
              <a:t>Wedding planning often involves fragmented communication and manual scheduling across multiple parties. </a:t>
            </a:r>
            <a:r>
              <a:rPr lang="en-US" sz="1800" err="1">
                <a:solidFill>
                  <a:schemeClr val="tx2"/>
                </a:solidFill>
              </a:rPr>
              <a:t>Tennemore</a:t>
            </a:r>
            <a:r>
              <a:rPr lang="en-US" sz="1800">
                <a:solidFill>
                  <a:schemeClr val="tx2"/>
                </a:solidFill>
              </a:rPr>
              <a:t> seeks to solve this problem by providing a centralized platform that automates scheduling, streamlines vendor and guest communication, and organizes key planning milestones. Through a responsive React frontend, a serverless Node.js backend, and an integrated database, the system enables real-time updates, task management, and automatic conflict detection. </a:t>
            </a:r>
          </a:p>
        </p:txBody>
      </p:sp>
    </p:spTree>
    <p:extLst>
      <p:ext uri="{BB962C8B-B14F-4D97-AF65-F5344CB8AC3E}">
        <p14:creationId xmlns:p14="http://schemas.microsoft.com/office/powerpoint/2010/main" val="3389836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BEC9A-D71F-4C25-EA43-501BB0B912FC}"/>
              </a:ext>
            </a:extLst>
          </p:cNvPr>
          <p:cNvSpPr>
            <a:spLocks noGrp="1"/>
          </p:cNvSpPr>
          <p:nvPr>
            <p:ph type="title"/>
          </p:nvPr>
        </p:nvSpPr>
        <p:spPr/>
        <p:txBody>
          <a:bodyPr/>
          <a:lstStyle/>
          <a:p>
            <a:r>
              <a:rPr lang="en-US"/>
              <a:t>Design Diagrams</a:t>
            </a:r>
          </a:p>
        </p:txBody>
      </p:sp>
      <p:pic>
        <p:nvPicPr>
          <p:cNvPr id="7" name="Content Placeholder 6" descr="A diagram of a software&#10;&#10;AI-generated content may be incorrect.">
            <a:extLst>
              <a:ext uri="{FF2B5EF4-FFF2-40B4-BE49-F238E27FC236}">
                <a16:creationId xmlns:a16="http://schemas.microsoft.com/office/drawing/2014/main" id="{F790AA91-558A-D0DA-7ABE-3044FAF88274}"/>
              </a:ext>
            </a:extLst>
          </p:cNvPr>
          <p:cNvPicPr>
            <a:picLocks noGrp="1" noChangeAspect="1"/>
          </p:cNvPicPr>
          <p:nvPr>
            <p:ph idx="1"/>
          </p:nvPr>
        </p:nvPicPr>
        <p:blipFill>
          <a:blip r:embed="rId2"/>
          <a:stretch>
            <a:fillRect/>
          </a:stretch>
        </p:blipFill>
        <p:spPr>
          <a:xfrm>
            <a:off x="838200" y="1714485"/>
            <a:ext cx="5943600" cy="4314825"/>
          </a:xfrm>
          <a:prstGeom prst="rect">
            <a:avLst/>
          </a:prstGeom>
        </p:spPr>
      </p:pic>
      <p:sp>
        <p:nvSpPr>
          <p:cNvPr id="8" name="TextBox 7">
            <a:extLst>
              <a:ext uri="{FF2B5EF4-FFF2-40B4-BE49-F238E27FC236}">
                <a16:creationId xmlns:a16="http://schemas.microsoft.com/office/drawing/2014/main" id="{EE6D972F-C93C-20D5-34C5-F3A9266F830F}"/>
              </a:ext>
            </a:extLst>
          </p:cNvPr>
          <p:cNvSpPr txBox="1"/>
          <p:nvPr/>
        </p:nvSpPr>
        <p:spPr>
          <a:xfrm>
            <a:off x="7080027" y="1807959"/>
            <a:ext cx="4457794"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Frontend:</a:t>
            </a:r>
          </a:p>
          <a:p>
            <a:r>
              <a:rPr lang="en-US"/>
              <a:t>The frontend of our application is the primary method for planners and clients to create, manage, and approve various pre wedding activities, like vendor selection or creating guest lists</a:t>
            </a:r>
          </a:p>
        </p:txBody>
      </p:sp>
      <p:sp>
        <p:nvSpPr>
          <p:cNvPr id="10" name="TextBox 9">
            <a:extLst>
              <a:ext uri="{FF2B5EF4-FFF2-40B4-BE49-F238E27FC236}">
                <a16:creationId xmlns:a16="http://schemas.microsoft.com/office/drawing/2014/main" id="{DB7423B5-1787-F5F4-C5B5-1D0BDE1B0169}"/>
              </a:ext>
            </a:extLst>
          </p:cNvPr>
          <p:cNvSpPr txBox="1"/>
          <p:nvPr/>
        </p:nvSpPr>
        <p:spPr>
          <a:xfrm>
            <a:off x="7084071" y="3572116"/>
            <a:ext cx="4457794"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Backend:</a:t>
            </a:r>
          </a:p>
          <a:p>
            <a:r>
              <a:rPr lang="en-US"/>
              <a:t>The backend is where several third-party APIs will be incorporated into the app to enable scheduling, bookings, and even handle payment processing. </a:t>
            </a:r>
          </a:p>
        </p:txBody>
      </p:sp>
      <p:sp>
        <p:nvSpPr>
          <p:cNvPr id="11" name="TextBox 10">
            <a:extLst>
              <a:ext uri="{FF2B5EF4-FFF2-40B4-BE49-F238E27FC236}">
                <a16:creationId xmlns:a16="http://schemas.microsoft.com/office/drawing/2014/main" id="{4680ADCD-ED0B-BA8A-A4E1-1AFEC69DCAC4}"/>
              </a:ext>
            </a:extLst>
          </p:cNvPr>
          <p:cNvSpPr txBox="1"/>
          <p:nvPr/>
        </p:nvSpPr>
        <p:spPr>
          <a:xfrm>
            <a:off x="7084071" y="5042454"/>
            <a:ext cx="445779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Database:</a:t>
            </a:r>
          </a:p>
          <a:p>
            <a:r>
              <a:rPr lang="en-US"/>
              <a:t>The database provides persistent storage for various entity types as needed</a:t>
            </a:r>
          </a:p>
        </p:txBody>
      </p:sp>
    </p:spTree>
    <p:extLst>
      <p:ext uri="{BB962C8B-B14F-4D97-AF65-F5344CB8AC3E}">
        <p14:creationId xmlns:p14="http://schemas.microsoft.com/office/powerpoint/2010/main" val="2073407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97000-B318-6D86-8551-A493CDF8DABF}"/>
              </a:ext>
            </a:extLst>
          </p:cNvPr>
          <p:cNvSpPr>
            <a:spLocks noGrp="1"/>
          </p:cNvSpPr>
          <p:nvPr>
            <p:ph type="title"/>
          </p:nvPr>
        </p:nvSpPr>
        <p:spPr/>
        <p:txBody>
          <a:bodyPr/>
          <a:lstStyle/>
          <a:p>
            <a:r>
              <a:rPr lang="en-US"/>
              <a:t>User Stories</a:t>
            </a:r>
          </a:p>
        </p:txBody>
      </p:sp>
      <p:graphicFrame>
        <p:nvGraphicFramePr>
          <p:cNvPr id="5" name="Content Placeholder 2">
            <a:extLst>
              <a:ext uri="{FF2B5EF4-FFF2-40B4-BE49-F238E27FC236}">
                <a16:creationId xmlns:a16="http://schemas.microsoft.com/office/drawing/2014/main" id="{0E5910EB-F3E6-5F5E-3101-F6A499C0EABC}"/>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26642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D113A-B996-C66F-D140-8D0E05F7B42C}"/>
              </a:ext>
            </a:extLst>
          </p:cNvPr>
          <p:cNvSpPr>
            <a:spLocks noGrp="1"/>
          </p:cNvSpPr>
          <p:nvPr>
            <p:ph type="title"/>
          </p:nvPr>
        </p:nvSpPr>
        <p:spPr/>
        <p:txBody>
          <a:bodyPr/>
          <a:lstStyle/>
          <a:p>
            <a:r>
              <a:rPr lang="en-US"/>
              <a:t>Major Project Constraints</a:t>
            </a:r>
          </a:p>
        </p:txBody>
      </p:sp>
      <p:sp>
        <p:nvSpPr>
          <p:cNvPr id="3" name="Content Placeholder 2">
            <a:extLst>
              <a:ext uri="{FF2B5EF4-FFF2-40B4-BE49-F238E27FC236}">
                <a16:creationId xmlns:a16="http://schemas.microsoft.com/office/drawing/2014/main" id="{223FCB90-09B2-4AE3-28D0-17C6E17631FA}"/>
              </a:ext>
            </a:extLst>
          </p:cNvPr>
          <p:cNvSpPr>
            <a:spLocks noGrp="1"/>
          </p:cNvSpPr>
          <p:nvPr>
            <p:ph idx="1"/>
          </p:nvPr>
        </p:nvSpPr>
        <p:spPr>
          <a:xfrm>
            <a:off x="838200" y="1739362"/>
            <a:ext cx="10515600" cy="1102055"/>
          </a:xfrm>
        </p:spPr>
        <p:txBody>
          <a:bodyPr vert="horz" lIns="91440" tIns="45720" rIns="91440" bIns="45720" rtlCol="0" anchor="t">
            <a:noAutofit/>
          </a:bodyPr>
          <a:lstStyle/>
          <a:p>
            <a:pPr marL="0" indent="0">
              <a:buNone/>
            </a:pPr>
            <a:r>
              <a:rPr lang="en-US"/>
              <a:t>Ethical/Security: Need to ensure user's personal data is not exposed while stored in database</a:t>
            </a:r>
          </a:p>
          <a:p>
            <a:pPr marL="457200" indent="-457200">
              <a:buFont typeface="Calibri" panose="020B0604020202020204" pitchFamily="34" charset="0"/>
              <a:buChar char="-"/>
            </a:pPr>
            <a:endParaRPr lang="en-US"/>
          </a:p>
        </p:txBody>
      </p:sp>
      <p:sp>
        <p:nvSpPr>
          <p:cNvPr id="5" name="Content Placeholder 2">
            <a:extLst>
              <a:ext uri="{FF2B5EF4-FFF2-40B4-BE49-F238E27FC236}">
                <a16:creationId xmlns:a16="http://schemas.microsoft.com/office/drawing/2014/main" id="{4CDD99FB-937C-CF3D-9D59-81B261D69E40}"/>
              </a:ext>
            </a:extLst>
          </p:cNvPr>
          <p:cNvSpPr txBox="1">
            <a:spLocks/>
          </p:cNvSpPr>
          <p:nvPr/>
        </p:nvSpPr>
        <p:spPr>
          <a:xfrm>
            <a:off x="832449" y="2883800"/>
            <a:ext cx="10529977" cy="190718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t>Professional: I'm providing a web-hosted application that will require maintenance, which I can't promise I'll be able to deliver. I need to keep very detail documentation to enable future developers to take over with minimal issues.</a:t>
            </a:r>
          </a:p>
        </p:txBody>
      </p:sp>
      <p:sp>
        <p:nvSpPr>
          <p:cNvPr id="6" name="Content Placeholder 2">
            <a:extLst>
              <a:ext uri="{FF2B5EF4-FFF2-40B4-BE49-F238E27FC236}">
                <a16:creationId xmlns:a16="http://schemas.microsoft.com/office/drawing/2014/main" id="{0012DB8B-466A-F2A4-CD53-2F51EDE5B439}"/>
              </a:ext>
            </a:extLst>
          </p:cNvPr>
          <p:cNvSpPr txBox="1">
            <a:spLocks/>
          </p:cNvSpPr>
          <p:nvPr/>
        </p:nvSpPr>
        <p:spPr>
          <a:xfrm>
            <a:off x="832448" y="4781611"/>
            <a:ext cx="10529977" cy="166277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t>Personal: I'm building this app for my sister's wedding planning business – if I build the backend API incorrectly, it could dramatically increase the cost of keeping the app up and running. </a:t>
            </a:r>
          </a:p>
          <a:p>
            <a:pPr marL="457200" indent="-457200">
              <a:buFont typeface="Calibri" panose="020B0604020202020204" pitchFamily="34" charset="0"/>
              <a:buChar char="-"/>
            </a:pPr>
            <a:endParaRPr lang="en-US"/>
          </a:p>
        </p:txBody>
      </p:sp>
    </p:spTree>
    <p:extLst>
      <p:ext uri="{BB962C8B-B14F-4D97-AF65-F5344CB8AC3E}">
        <p14:creationId xmlns:p14="http://schemas.microsoft.com/office/powerpoint/2010/main" val="28423906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9B3B7-894B-838B-758D-7F2BEE9488A2}"/>
              </a:ext>
            </a:extLst>
          </p:cNvPr>
          <p:cNvSpPr>
            <a:spLocks noGrp="1"/>
          </p:cNvSpPr>
          <p:nvPr>
            <p:ph type="title"/>
          </p:nvPr>
        </p:nvSpPr>
        <p:spPr/>
        <p:txBody>
          <a:bodyPr/>
          <a:lstStyle/>
          <a:p>
            <a:r>
              <a:rPr lang="en-US"/>
              <a:t>Review of Project Progress</a:t>
            </a:r>
          </a:p>
        </p:txBody>
      </p:sp>
      <p:sp>
        <p:nvSpPr>
          <p:cNvPr id="3" name="Content Placeholder 2">
            <a:extLst>
              <a:ext uri="{FF2B5EF4-FFF2-40B4-BE49-F238E27FC236}">
                <a16:creationId xmlns:a16="http://schemas.microsoft.com/office/drawing/2014/main" id="{4F0580FF-80C9-A4EA-2B88-FBBF52C96754}"/>
              </a:ext>
            </a:extLst>
          </p:cNvPr>
          <p:cNvSpPr>
            <a:spLocks noGrp="1"/>
          </p:cNvSpPr>
          <p:nvPr>
            <p:ph idx="1"/>
          </p:nvPr>
        </p:nvSpPr>
        <p:spPr/>
        <p:txBody>
          <a:bodyPr vert="horz" lIns="91440" tIns="45720" rIns="91440" bIns="45720" rtlCol="0" anchor="t">
            <a:normAutofit/>
          </a:bodyPr>
          <a:lstStyle/>
          <a:p>
            <a:pPr marL="457200" indent="-457200">
              <a:buFont typeface="Calibri" panose="020B0604020202020204" pitchFamily="34" charset="0"/>
              <a:buChar char="-"/>
            </a:pPr>
            <a:r>
              <a:rPr lang="en-US"/>
              <a:t>The tasks, weddings, and planner portions of the database have been created in a local PostgreSQL server</a:t>
            </a:r>
          </a:p>
          <a:p>
            <a:pPr marL="457200" indent="-457200">
              <a:buFont typeface="Calibri" panose="020B0604020202020204" pitchFamily="34" charset="0"/>
              <a:buChar char="-"/>
            </a:pPr>
            <a:r>
              <a:rPr lang="en-US"/>
              <a:t>The frontend has been created from the vite framework. Further functionality depends on the backend for handling multiple users, password authentication, and task creation. </a:t>
            </a:r>
          </a:p>
          <a:p>
            <a:pPr marL="457200" indent="-457200">
              <a:buFont typeface="Calibri" panose="020B0604020202020204" pitchFamily="34" charset="0"/>
              <a:buChar char="-"/>
            </a:pPr>
            <a:r>
              <a:rPr lang="en-US"/>
              <a:t>The backend so far is only the framework established by the node.js framework, as well as the Express routes that are automatically created during installation. Limited custom routes have been written but need more testing to verify functionality </a:t>
            </a:r>
          </a:p>
        </p:txBody>
      </p:sp>
      <p:grpSp>
        <p:nvGrpSpPr>
          <p:cNvPr id="4" name="Group 3" hidden="1">
            <a:extLst>
              <a:ext uri="{FF2B5EF4-FFF2-40B4-BE49-F238E27FC236}">
                <a16:creationId xmlns:a16="http://schemas.microsoft.com/office/drawing/2014/main" id="{433AA3E3-39A6-7F6C-8A2A-C9B1DBEFFFB9}"/>
              </a:ext>
              <a:ext uri="{C183D7F6-B498-43B3-948B-1728B52AA6E4}">
                <adec:decorative xmlns:adec="http://schemas.microsoft.com/office/drawing/2017/decorative" val="1"/>
              </a:ext>
            </a:extLst>
          </p:cNvPr>
          <p:cNvGrpSpPr>
            <a:grpSpLocks noGrp="1" noUngrp="1" noRot="1" noChangeAspect="1" noMove="1" noResize="1"/>
          </p:cNvGrpSpPr>
          <p:nvPr/>
        </p:nvGrpSpPr>
        <p:grpSpPr>
          <a:xfrm>
            <a:off x="7867135" y="0"/>
            <a:ext cx="4324865" cy="2641149"/>
            <a:chOff x="7867135" y="0"/>
            <a:chExt cx="5324985" cy="3251912"/>
          </a:xfrm>
          <a:solidFill>
            <a:schemeClr val="accent5">
              <a:alpha val="10000"/>
            </a:schemeClr>
          </a:solidFill>
        </p:grpSpPr>
        <p:sp>
          <p:nvSpPr>
            <p:cNvPr id="5" name="Freeform: Shape 4">
              <a:extLst>
                <a:ext uri="{FF2B5EF4-FFF2-40B4-BE49-F238E27FC236}">
                  <a16:creationId xmlns:a16="http://schemas.microsoft.com/office/drawing/2014/main" id="{76AB5631-DE29-A087-5C9F-6EBD0151FA41}"/>
                </a:ext>
                <a:ext uri="{C183D7F6-B498-43B3-948B-1728B52AA6E4}">
                  <adec:decorative xmlns:adec="http://schemas.microsoft.com/office/drawing/2017/decorative" val="1"/>
                </a:ext>
              </a:extLst>
            </p:cNvPr>
            <p:cNvSpPr/>
            <p:nvPr/>
          </p:nvSpPr>
          <p:spPr>
            <a:xfrm>
              <a:off x="7867135" y="0"/>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Freeform: Shape 5">
              <a:extLst>
                <a:ext uri="{FF2B5EF4-FFF2-40B4-BE49-F238E27FC236}">
                  <a16:creationId xmlns:a16="http://schemas.microsoft.com/office/drawing/2014/main" id="{F7BB55CE-7067-1593-7E19-3DF633A6F4B5}"/>
                </a:ext>
                <a:ext uri="{C183D7F6-B498-43B3-948B-1728B52AA6E4}">
                  <adec:decorative xmlns:adec="http://schemas.microsoft.com/office/drawing/2017/decorative" val="1"/>
                </a:ext>
              </a:extLst>
            </p:cNvPr>
            <p:cNvSpPr/>
            <p:nvPr/>
          </p:nvSpPr>
          <p:spPr>
            <a:xfrm>
              <a:off x="7916587" y="0"/>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 name="Freeform: Shape 6">
              <a:extLst>
                <a:ext uri="{FF2B5EF4-FFF2-40B4-BE49-F238E27FC236}">
                  <a16:creationId xmlns:a16="http://schemas.microsoft.com/office/drawing/2014/main" id="{2127A755-EDF1-4821-77EE-328B19255EF3}"/>
                </a:ext>
                <a:ext uri="{C183D7F6-B498-43B3-948B-1728B52AA6E4}">
                  <adec:decorative xmlns:adec="http://schemas.microsoft.com/office/drawing/2017/decorative" val="1"/>
                </a:ext>
              </a:extLst>
            </p:cNvPr>
            <p:cNvSpPr/>
            <p:nvPr/>
          </p:nvSpPr>
          <p:spPr>
            <a:xfrm>
              <a:off x="7921334" y="0"/>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 name="Freeform: Shape 7">
              <a:extLst>
                <a:ext uri="{FF2B5EF4-FFF2-40B4-BE49-F238E27FC236}">
                  <a16:creationId xmlns:a16="http://schemas.microsoft.com/office/drawing/2014/main" id="{7B2430DC-6AAB-248D-11E6-C0B4DE726673}"/>
                </a:ext>
                <a:ext uri="{C183D7F6-B498-43B3-948B-1728B52AA6E4}">
                  <adec:decorative xmlns:adec="http://schemas.microsoft.com/office/drawing/2017/decorative" val="1"/>
                </a:ext>
              </a:extLst>
            </p:cNvPr>
            <p:cNvSpPr/>
            <p:nvPr/>
          </p:nvSpPr>
          <p:spPr>
            <a:xfrm>
              <a:off x="7921334" y="0"/>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Tree>
    <p:extLst>
      <p:ext uri="{BB962C8B-B14F-4D97-AF65-F5344CB8AC3E}">
        <p14:creationId xmlns:p14="http://schemas.microsoft.com/office/powerpoint/2010/main" val="3597284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A0EC6-F089-3D53-B9AF-94BC47A4797C}"/>
              </a:ext>
            </a:extLst>
          </p:cNvPr>
          <p:cNvSpPr>
            <a:spLocks noGrp="1"/>
          </p:cNvSpPr>
          <p:nvPr>
            <p:ph type="title"/>
          </p:nvPr>
        </p:nvSpPr>
        <p:spPr/>
        <p:txBody>
          <a:bodyPr/>
          <a:lstStyle/>
          <a:p>
            <a:r>
              <a:rPr lang="en-US"/>
              <a:t>Expected Accomplishments</a:t>
            </a:r>
          </a:p>
        </p:txBody>
      </p:sp>
      <p:sp>
        <p:nvSpPr>
          <p:cNvPr id="3" name="Content Placeholder 2">
            <a:extLst>
              <a:ext uri="{FF2B5EF4-FFF2-40B4-BE49-F238E27FC236}">
                <a16:creationId xmlns:a16="http://schemas.microsoft.com/office/drawing/2014/main" id="{9ED0DA9C-BB51-969A-5CCA-3F7ABEBF544F}"/>
              </a:ext>
            </a:extLst>
          </p:cNvPr>
          <p:cNvSpPr>
            <a:spLocks noGrp="1"/>
          </p:cNvSpPr>
          <p:nvPr>
            <p:ph idx="1"/>
          </p:nvPr>
        </p:nvSpPr>
        <p:spPr>
          <a:xfrm>
            <a:off x="838200" y="1739362"/>
            <a:ext cx="10515600" cy="4207563"/>
          </a:xfrm>
        </p:spPr>
        <p:txBody>
          <a:bodyPr vert="horz" lIns="91440" tIns="45720" rIns="91440" bIns="45720" rtlCol="0" anchor="t">
            <a:normAutofit/>
          </a:bodyPr>
          <a:lstStyle/>
          <a:p>
            <a:pPr marL="0" indent="0">
              <a:buNone/>
            </a:pPr>
            <a:r>
              <a:rPr lang="en-US"/>
              <a:t>By the end of the term, I plan to have the following features set up and hosted locally:</a:t>
            </a:r>
          </a:p>
          <a:p>
            <a:pPr marL="457200" indent="-457200">
              <a:buFont typeface="Calibri" panose="020B0604020202020204" pitchFamily="34" charset="0"/>
              <a:buChar char="-"/>
            </a:pPr>
            <a:r>
              <a:rPr lang="en-US"/>
              <a:t>The frontend for the planner dashboard, including the log-in, client management, and vendor screens</a:t>
            </a:r>
          </a:p>
          <a:p>
            <a:pPr marL="457200" indent="-457200">
              <a:buFont typeface="Calibri" panose="020B0604020202020204" pitchFamily="34" charset="0"/>
              <a:buChar char="-"/>
            </a:pPr>
            <a:r>
              <a:rPr lang="en-US"/>
              <a:t>The backend task scheduling and reminders automations, as well as the password management functionality (Ideally with email reset via third-party APIs)</a:t>
            </a:r>
          </a:p>
          <a:p>
            <a:pPr marL="457200" indent="-457200">
              <a:buFont typeface="Calibri" panose="020B0604020202020204" pitchFamily="34" charset="0"/>
              <a:buChar char="-"/>
            </a:pPr>
            <a:r>
              <a:rPr lang="en-US"/>
              <a:t>The vendor database system (client consultation needed)</a:t>
            </a:r>
          </a:p>
        </p:txBody>
      </p:sp>
      <p:grpSp>
        <p:nvGrpSpPr>
          <p:cNvPr id="4" name="Group 3" hidden="1">
            <a:extLst>
              <a:ext uri="{FF2B5EF4-FFF2-40B4-BE49-F238E27FC236}">
                <a16:creationId xmlns:a16="http://schemas.microsoft.com/office/drawing/2014/main" id="{313A2580-1B84-E642-A9FE-DBC48DCBD85A}"/>
              </a:ext>
              <a:ext uri="{C183D7F6-B498-43B3-948B-1728B52AA6E4}">
                <adec:decorative xmlns:adec="http://schemas.microsoft.com/office/drawing/2017/decorative" val="1"/>
              </a:ext>
            </a:extLst>
          </p:cNvPr>
          <p:cNvGrpSpPr>
            <a:grpSpLocks noGrp="1" noUngrp="1" noRot="1" noChangeAspect="1" noMove="1" noResize="1"/>
          </p:cNvGrpSpPr>
          <p:nvPr/>
        </p:nvGrpSpPr>
        <p:grpSpPr>
          <a:xfrm>
            <a:off x="7867135" y="0"/>
            <a:ext cx="4324865" cy="2641149"/>
            <a:chOff x="7867135" y="0"/>
            <a:chExt cx="5324985" cy="3251912"/>
          </a:xfrm>
          <a:solidFill>
            <a:schemeClr val="accent5">
              <a:alpha val="10000"/>
            </a:schemeClr>
          </a:solidFill>
        </p:grpSpPr>
        <p:sp>
          <p:nvSpPr>
            <p:cNvPr id="5" name="Freeform: Shape 4">
              <a:extLst>
                <a:ext uri="{FF2B5EF4-FFF2-40B4-BE49-F238E27FC236}">
                  <a16:creationId xmlns:a16="http://schemas.microsoft.com/office/drawing/2014/main" id="{10919D45-CA3E-395A-29DA-0983C654B2D0}"/>
                </a:ext>
                <a:ext uri="{C183D7F6-B498-43B3-948B-1728B52AA6E4}">
                  <adec:decorative xmlns:adec="http://schemas.microsoft.com/office/drawing/2017/decorative" val="1"/>
                </a:ext>
              </a:extLst>
            </p:cNvPr>
            <p:cNvSpPr/>
            <p:nvPr/>
          </p:nvSpPr>
          <p:spPr>
            <a:xfrm>
              <a:off x="7867135" y="0"/>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Freeform: Shape 5">
              <a:extLst>
                <a:ext uri="{FF2B5EF4-FFF2-40B4-BE49-F238E27FC236}">
                  <a16:creationId xmlns:a16="http://schemas.microsoft.com/office/drawing/2014/main" id="{88E1799C-AB51-FB8A-FA35-3E95A2DD69CC}"/>
                </a:ext>
                <a:ext uri="{C183D7F6-B498-43B3-948B-1728B52AA6E4}">
                  <adec:decorative xmlns:adec="http://schemas.microsoft.com/office/drawing/2017/decorative" val="1"/>
                </a:ext>
              </a:extLst>
            </p:cNvPr>
            <p:cNvSpPr/>
            <p:nvPr/>
          </p:nvSpPr>
          <p:spPr>
            <a:xfrm>
              <a:off x="7916587" y="0"/>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 name="Freeform: Shape 6">
              <a:extLst>
                <a:ext uri="{FF2B5EF4-FFF2-40B4-BE49-F238E27FC236}">
                  <a16:creationId xmlns:a16="http://schemas.microsoft.com/office/drawing/2014/main" id="{EDC77602-086B-6D50-09CE-E49489DDB861}"/>
                </a:ext>
                <a:ext uri="{C183D7F6-B498-43B3-948B-1728B52AA6E4}">
                  <adec:decorative xmlns:adec="http://schemas.microsoft.com/office/drawing/2017/decorative" val="1"/>
                </a:ext>
              </a:extLst>
            </p:cNvPr>
            <p:cNvSpPr/>
            <p:nvPr/>
          </p:nvSpPr>
          <p:spPr>
            <a:xfrm>
              <a:off x="7921334" y="0"/>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 name="Freeform: Shape 7">
              <a:extLst>
                <a:ext uri="{FF2B5EF4-FFF2-40B4-BE49-F238E27FC236}">
                  <a16:creationId xmlns:a16="http://schemas.microsoft.com/office/drawing/2014/main" id="{0BA51047-870D-1247-9053-98AC8A95D6BF}"/>
                </a:ext>
                <a:ext uri="{C183D7F6-B498-43B3-948B-1728B52AA6E4}">
                  <adec:decorative xmlns:adec="http://schemas.microsoft.com/office/drawing/2017/decorative" val="1"/>
                </a:ext>
              </a:extLst>
            </p:cNvPr>
            <p:cNvSpPr/>
            <p:nvPr/>
          </p:nvSpPr>
          <p:spPr>
            <a:xfrm>
              <a:off x="7921334" y="0"/>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Tree>
    <p:extLst>
      <p:ext uri="{BB962C8B-B14F-4D97-AF65-F5344CB8AC3E}">
        <p14:creationId xmlns:p14="http://schemas.microsoft.com/office/powerpoint/2010/main" val="54443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2CEB9D-9FF5-6B53-2F57-3FC9900B157A}"/>
              </a:ext>
            </a:extLst>
          </p:cNvPr>
          <p:cNvSpPr>
            <a:spLocks noGrp="1"/>
          </p:cNvSpPr>
          <p:nvPr>
            <p:ph type="title"/>
          </p:nvPr>
        </p:nvSpPr>
        <p:spPr>
          <a:xfrm>
            <a:off x="804672" y="802955"/>
            <a:ext cx="4977976" cy="1454051"/>
          </a:xfrm>
        </p:spPr>
        <p:txBody>
          <a:bodyPr>
            <a:normAutofit/>
          </a:bodyPr>
          <a:lstStyle/>
          <a:p>
            <a:r>
              <a:rPr lang="en-US" sz="3600">
                <a:solidFill>
                  <a:schemeClr val="tx2"/>
                </a:solidFill>
              </a:rPr>
              <a:t>Division of Work</a:t>
            </a:r>
          </a:p>
        </p:txBody>
      </p:sp>
      <p:sp>
        <p:nvSpPr>
          <p:cNvPr id="3" name="Content Placeholder 2">
            <a:extLst>
              <a:ext uri="{FF2B5EF4-FFF2-40B4-BE49-F238E27FC236}">
                <a16:creationId xmlns:a16="http://schemas.microsoft.com/office/drawing/2014/main" id="{E48DF984-57FE-C62F-5130-C9F2626E3672}"/>
              </a:ext>
            </a:extLst>
          </p:cNvPr>
          <p:cNvSpPr>
            <a:spLocks noGrp="1"/>
          </p:cNvSpPr>
          <p:nvPr>
            <p:ph idx="1"/>
          </p:nvPr>
        </p:nvSpPr>
        <p:spPr>
          <a:xfrm>
            <a:off x="804672" y="2421682"/>
            <a:ext cx="4977578" cy="1213768"/>
          </a:xfrm>
        </p:spPr>
        <p:txBody>
          <a:bodyPr vert="horz" lIns="91440" tIns="45720" rIns="91440" bIns="45720" rtlCol="0" anchor="ctr">
            <a:normAutofit/>
          </a:bodyPr>
          <a:lstStyle/>
          <a:p>
            <a:pPr marL="0" indent="0">
              <a:buNone/>
            </a:pPr>
            <a:r>
              <a:rPr lang="en-US" sz="1800">
                <a:solidFill>
                  <a:schemeClr val="tx2"/>
                </a:solidFill>
              </a:rPr>
              <a:t>Since I am the sole member of my project's team, I am responsible for all steps of the project.  </a:t>
            </a:r>
          </a:p>
          <a:p>
            <a:pPr marL="0" indent="0">
              <a:buNone/>
            </a:pPr>
            <a:endParaRPr lang="en-US" sz="1800">
              <a:solidFill>
                <a:schemeClr val="tx2"/>
              </a:solidFill>
            </a:endParaRPr>
          </a:p>
        </p:txBody>
      </p:sp>
      <p:grpSp>
        <p:nvGrpSpPr>
          <p:cNvPr id="14" name="Group 13">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5" name="Freeform: Shape 14">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Hierarchy">
            <a:extLst>
              <a:ext uri="{FF2B5EF4-FFF2-40B4-BE49-F238E27FC236}">
                <a16:creationId xmlns:a16="http://schemas.microsoft.com/office/drawing/2014/main" id="{1AC2ADDC-8B64-86BB-7FF7-A6E518740C6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4051782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A3C7DEA-BCC2-4295-8850-1479932961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289949D-B9F6-468A-86FE-2694DC5AE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37CC5C3D-2B06-A328-BD5F-F7E58358ABC3}"/>
              </a:ext>
            </a:extLst>
          </p:cNvPr>
          <p:cNvSpPr>
            <a:spLocks noGrp="1"/>
          </p:cNvSpPr>
          <p:nvPr>
            <p:ph type="title"/>
          </p:nvPr>
        </p:nvSpPr>
        <p:spPr>
          <a:xfrm>
            <a:off x="1179226" y="1755073"/>
            <a:ext cx="9833548" cy="1066802"/>
          </a:xfrm>
        </p:spPr>
        <p:txBody>
          <a:bodyPr anchor="b">
            <a:normAutofit/>
          </a:bodyPr>
          <a:lstStyle/>
          <a:p>
            <a:r>
              <a:rPr lang="en-US" sz="3600">
                <a:solidFill>
                  <a:schemeClr val="tx2"/>
                </a:solidFill>
              </a:rPr>
              <a:t>Expected Demo at Expo </a:t>
            </a:r>
          </a:p>
        </p:txBody>
      </p:sp>
      <p:sp>
        <p:nvSpPr>
          <p:cNvPr id="3" name="Content Placeholder 2">
            <a:extLst>
              <a:ext uri="{FF2B5EF4-FFF2-40B4-BE49-F238E27FC236}">
                <a16:creationId xmlns:a16="http://schemas.microsoft.com/office/drawing/2014/main" id="{02268476-7526-640E-8CE8-67E1F07E374E}"/>
              </a:ext>
            </a:extLst>
          </p:cNvPr>
          <p:cNvSpPr>
            <a:spLocks noGrp="1"/>
          </p:cNvSpPr>
          <p:nvPr>
            <p:ph idx="1"/>
          </p:nvPr>
        </p:nvSpPr>
        <p:spPr>
          <a:xfrm>
            <a:off x="1179226" y="3049325"/>
            <a:ext cx="9833548" cy="2945574"/>
          </a:xfrm>
        </p:spPr>
        <p:txBody>
          <a:bodyPr vert="horz" lIns="91440" tIns="45720" rIns="91440" bIns="45720" rtlCol="0" anchor="ctr">
            <a:normAutofit/>
          </a:bodyPr>
          <a:lstStyle/>
          <a:p>
            <a:pPr marL="0" indent="0">
              <a:buNone/>
            </a:pPr>
            <a:r>
              <a:rPr lang="en-US" sz="1800">
                <a:solidFill>
                  <a:schemeClr val="tx2"/>
                </a:solidFill>
              </a:rPr>
              <a:t>I look forward to demonstrating a fully functioning application at UC's Design Expo. This will include:</a:t>
            </a:r>
          </a:p>
          <a:p>
            <a:pPr>
              <a:buFont typeface="Calibri" panose="020B0604020202020204" pitchFamily="34" charset="0"/>
              <a:buChar char="-"/>
            </a:pPr>
            <a:r>
              <a:rPr lang="en-US" sz="1800">
                <a:solidFill>
                  <a:schemeClr val="tx2"/>
                </a:solidFill>
              </a:rPr>
              <a:t>A modern-looking frontend website for both the couple's portal and planner dashboard</a:t>
            </a:r>
          </a:p>
          <a:p>
            <a:pPr>
              <a:buFont typeface="Calibri" panose="020B0604020202020204" pitchFamily="34" charset="0"/>
              <a:buChar char="-"/>
            </a:pPr>
            <a:r>
              <a:rPr lang="en-US" sz="1800">
                <a:solidFill>
                  <a:schemeClr val="tx2"/>
                </a:solidFill>
              </a:rPr>
              <a:t>The backend should be able to automatically backwards plan a wedding given the required details</a:t>
            </a:r>
          </a:p>
          <a:p>
            <a:pPr>
              <a:buFont typeface="Calibri" panose="020B0604020202020204" pitchFamily="34" charset="0"/>
              <a:buChar char="-"/>
            </a:pPr>
            <a:r>
              <a:rPr lang="en-US" sz="1800">
                <a:solidFill>
                  <a:schemeClr val="tx2"/>
                </a:solidFill>
              </a:rPr>
              <a:t>The application will be hosted on an online service in accordance with the as-yet-to-be-determined specifications that the Tennemore company will provide.</a:t>
            </a:r>
          </a:p>
        </p:txBody>
      </p:sp>
      <p:grpSp>
        <p:nvGrpSpPr>
          <p:cNvPr id="4" name="Group 3">
            <a:extLst>
              <a:ext uri="{FF2B5EF4-FFF2-40B4-BE49-F238E27FC236}">
                <a16:creationId xmlns:a16="http://schemas.microsoft.com/office/drawing/2014/main" id="{E4DF0958-0C87-4C28-9554-2FADC788C2B1}"/>
              </a:ext>
              <a:ext uri="{C183D7F6-B498-43B3-948B-1728B52AA6E4}">
                <adec:decorative xmlns:adec="http://schemas.microsoft.com/office/drawing/2017/decorative" val="1"/>
              </a:ext>
            </a:extLst>
          </p:cNvPr>
          <p:cNvGrpSpPr>
            <a:grpSpLocks noGrp="1" noUngrp="1" noRot="1" noChangeAspect="1" noMove="1" noResize="1"/>
          </p:cNvGrpSpPr>
          <p:nvPr/>
        </p:nvGrpSpPr>
        <p:grpSpPr>
          <a:xfrm>
            <a:off x="7867135" y="0"/>
            <a:ext cx="4324865" cy="2641149"/>
            <a:chOff x="7867135" y="0"/>
            <a:chExt cx="5324985" cy="3251912"/>
          </a:xfrm>
          <a:solidFill>
            <a:schemeClr val="accent5">
              <a:alpha val="10000"/>
            </a:schemeClr>
          </a:solidFill>
        </p:grpSpPr>
        <p:sp>
          <p:nvSpPr>
            <p:cNvPr id="5" name="Freeform: Shape 4">
              <a:extLst>
                <a:ext uri="{FF2B5EF4-FFF2-40B4-BE49-F238E27FC236}">
                  <a16:creationId xmlns:a16="http://schemas.microsoft.com/office/drawing/2014/main" id="{DEC53B48-7B73-49D1-A6FD-9DBF5141EA75}"/>
                </a:ext>
                <a:ext uri="{C183D7F6-B498-43B3-948B-1728B52AA6E4}">
                  <adec:decorative xmlns:adec="http://schemas.microsoft.com/office/drawing/2017/decorative" val="1"/>
                </a:ext>
              </a:extLst>
            </p:cNvPr>
            <p:cNvSpPr/>
            <p:nvPr/>
          </p:nvSpPr>
          <p:spPr>
            <a:xfrm>
              <a:off x="7867135" y="0"/>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Freeform: Shape 5">
              <a:extLst>
                <a:ext uri="{FF2B5EF4-FFF2-40B4-BE49-F238E27FC236}">
                  <a16:creationId xmlns:a16="http://schemas.microsoft.com/office/drawing/2014/main" id="{7DEDDC41-2C98-4AF1-A0EA-AEEC34827C23}"/>
                </a:ext>
                <a:ext uri="{C183D7F6-B498-43B3-948B-1728B52AA6E4}">
                  <adec:decorative xmlns:adec="http://schemas.microsoft.com/office/drawing/2017/decorative" val="1"/>
                </a:ext>
              </a:extLst>
            </p:cNvPr>
            <p:cNvSpPr/>
            <p:nvPr/>
          </p:nvSpPr>
          <p:spPr>
            <a:xfrm>
              <a:off x="7916587" y="0"/>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 name="Freeform: Shape 8">
              <a:extLst>
                <a:ext uri="{FF2B5EF4-FFF2-40B4-BE49-F238E27FC236}">
                  <a16:creationId xmlns:a16="http://schemas.microsoft.com/office/drawing/2014/main" id="{D2208F20-F93C-4530-8370-FC7818BABB30}"/>
                </a:ext>
                <a:ext uri="{C183D7F6-B498-43B3-948B-1728B52AA6E4}">
                  <adec:decorative xmlns:adec="http://schemas.microsoft.com/office/drawing/2017/decorative" val="1"/>
                </a:ext>
              </a:extLst>
            </p:cNvPr>
            <p:cNvSpPr/>
            <p:nvPr/>
          </p:nvSpPr>
          <p:spPr>
            <a:xfrm>
              <a:off x="7921334" y="0"/>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reeform: Shape 10">
              <a:extLst>
                <a:ext uri="{FF2B5EF4-FFF2-40B4-BE49-F238E27FC236}">
                  <a16:creationId xmlns:a16="http://schemas.microsoft.com/office/drawing/2014/main" id="{E52F51E0-B50B-43EA-B6AC-C16BD29C3EDD}"/>
                </a:ext>
                <a:ext uri="{C183D7F6-B498-43B3-948B-1728B52AA6E4}">
                  <adec:decorative xmlns:adec="http://schemas.microsoft.com/office/drawing/2017/decorative" val="1"/>
                </a:ext>
              </a:extLst>
            </p:cNvPr>
            <p:cNvSpPr/>
            <p:nvPr/>
          </p:nvSpPr>
          <p:spPr>
            <a:xfrm>
              <a:off x="7921334" y="0"/>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Tree>
    <p:extLst>
      <p:ext uri="{BB962C8B-B14F-4D97-AF65-F5344CB8AC3E}">
        <p14:creationId xmlns:p14="http://schemas.microsoft.com/office/powerpoint/2010/main" val="2901946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10</Slides>
  <Notes>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Fall Design Presentation: Tennemore Wedding Planning Application</vt:lpstr>
      <vt:lpstr>Names:</vt:lpstr>
      <vt:lpstr>Project Abstract</vt:lpstr>
      <vt:lpstr>Design Diagrams</vt:lpstr>
      <vt:lpstr>User Stories</vt:lpstr>
      <vt:lpstr>Major Project Constraints</vt:lpstr>
      <vt:lpstr>Review of Project Progress</vt:lpstr>
      <vt:lpstr>Expected Accomplishments</vt:lpstr>
      <vt:lpstr>Division of Work</vt:lpstr>
      <vt:lpstr>Expected Demo at Expo 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4</cp:revision>
  <dcterms:created xsi:type="dcterms:W3CDTF">2025-10-27T15:32:14Z</dcterms:created>
  <dcterms:modified xsi:type="dcterms:W3CDTF">2025-10-27T20:47:31Z</dcterms:modified>
</cp:coreProperties>
</file>